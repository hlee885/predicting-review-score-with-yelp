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Comfortaa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mfortaa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Comforta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0668ae42b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0668ae42b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0668ae42b2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0668ae42b2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0668ae42b2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0668ae42b2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0668ae42b2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0668ae42b2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0668ae42b2_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0668ae42b2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0668ae42b2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0668ae42b2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0668ae42b2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0668ae42b2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0668ae42b2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0668ae42b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0668ae42b2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0668ae42b2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0668ae42b2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0668ae42b2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0668ae42b2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0668ae42b2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0668ae42b2_6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0668ae42b2_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0668ae42b2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0668ae42b2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55850" y="1359825"/>
            <a:ext cx="8832300" cy="135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80"/>
              <a:t>Predicting Yelp Review Score with Ensemble Learning of MLR and Random Forest</a:t>
            </a:r>
            <a:endParaRPr sz="33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1894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Huan Xu, </a:t>
            </a:r>
            <a:r>
              <a:rPr lang="en"/>
              <a:t>Jin Lee, Grant Zhou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>
                <a:latin typeface="Comfortaa"/>
                <a:ea typeface="Comfortaa"/>
                <a:cs typeface="Comfortaa"/>
                <a:sym typeface="Comfortaa"/>
              </a:rPr>
              <a:t>The Data Set </a:t>
            </a:r>
            <a:endParaRPr sz="282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687925"/>
            <a:ext cx="5013000" cy="28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Over 50 predictors including, Id, star, name, city, postal code, text, nChar, nWord, gem, Incredible, and more.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A prediction model to predict the ratings of reviews based on the text.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6875" y="73050"/>
            <a:ext cx="3717949" cy="278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92950"/>
            <a:ext cx="453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Before Cleaning The Data...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290125"/>
            <a:ext cx="453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5 Star outcome is greater than any other stars.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Number of Words is </a:t>
            </a:r>
            <a:r>
              <a:rPr lang="en" sz="1700">
                <a:solidFill>
                  <a:schemeClr val="dk1"/>
                </a:solidFill>
              </a:rPr>
              <a:t>proportional</a:t>
            </a:r>
            <a:r>
              <a:rPr lang="en" sz="1700">
                <a:solidFill>
                  <a:schemeClr val="dk1"/>
                </a:solidFill>
              </a:rPr>
              <a:t> to the Number of Characters.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The boxplot of the number of words and stars depicts a small trend as well as boxplot of characters and stars (next page)</a:t>
            </a:r>
            <a:endParaRPr sz="1700"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8612" y="36850"/>
            <a:ext cx="3992699" cy="2466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5413" y="2503767"/>
            <a:ext cx="3779083" cy="233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06875" y="36850"/>
            <a:ext cx="467475" cy="2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9350" y="2571750"/>
            <a:ext cx="4173950" cy="2578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2575" y="1"/>
            <a:ext cx="4107499" cy="253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vocabulary</a:t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423775" y="1502175"/>
            <a:ext cx="3059700" cy="7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Remove punctuation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500">
                <a:solidFill>
                  <a:schemeClr val="dk1"/>
                </a:solidFill>
              </a:rPr>
              <a:t>“Hello World mi friends”</a:t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23775" y="2375638"/>
            <a:ext cx="3059700" cy="7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Lower case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500">
                <a:solidFill>
                  <a:schemeClr val="dk1"/>
                </a:solidFill>
              </a:rPr>
              <a:t>“hello world mi friends”</a:t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423775" y="3249125"/>
            <a:ext cx="3059700" cy="7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Only English word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500">
                <a:solidFill>
                  <a:schemeClr val="dk1"/>
                </a:solidFill>
              </a:rPr>
              <a:t>“hello world friends”</a:t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423775" y="4177050"/>
            <a:ext cx="3059700" cy="70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Lemmatization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500">
                <a:solidFill>
                  <a:schemeClr val="dk1"/>
                </a:solidFill>
              </a:rPr>
              <a:t>“hello world friend”</a:t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225425" y="1109950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500">
                <a:solidFill>
                  <a:schemeClr val="dk1"/>
                </a:solidFill>
              </a:rPr>
              <a:t>            </a:t>
            </a:r>
            <a:r>
              <a:rPr i="1" lang="en" sz="1500">
                <a:solidFill>
                  <a:schemeClr val="dk1"/>
                </a:solidFill>
              </a:rPr>
              <a:t>“Hello World, mi friends!”</a:t>
            </a:r>
            <a:endParaRPr i="1" sz="1500">
              <a:solidFill>
                <a:schemeClr val="dk1"/>
              </a:solidFill>
            </a:endParaRPr>
          </a:p>
        </p:txBody>
      </p:sp>
      <p:cxnSp>
        <p:nvCxnSpPr>
          <p:cNvPr id="88" name="Google Shape;88;p17"/>
          <p:cNvCxnSpPr>
            <a:stCxn id="83" idx="3"/>
            <a:endCxn id="84" idx="3"/>
          </p:cNvCxnSpPr>
          <p:nvPr/>
        </p:nvCxnSpPr>
        <p:spPr>
          <a:xfrm>
            <a:off x="3483475" y="1853325"/>
            <a:ext cx="600" cy="873600"/>
          </a:xfrm>
          <a:prstGeom prst="curvedConnector3">
            <a:avLst>
              <a:gd fmla="val 396875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7"/>
          <p:cNvCxnSpPr>
            <a:stCxn id="84" idx="3"/>
            <a:endCxn id="85" idx="3"/>
          </p:cNvCxnSpPr>
          <p:nvPr/>
        </p:nvCxnSpPr>
        <p:spPr>
          <a:xfrm>
            <a:off x="3483475" y="2726788"/>
            <a:ext cx="600" cy="873600"/>
          </a:xfrm>
          <a:prstGeom prst="curvedConnector3">
            <a:avLst>
              <a:gd fmla="val 396875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17"/>
          <p:cNvCxnSpPr>
            <a:stCxn id="85" idx="3"/>
            <a:endCxn id="86" idx="3"/>
          </p:cNvCxnSpPr>
          <p:nvPr/>
        </p:nvCxnSpPr>
        <p:spPr>
          <a:xfrm>
            <a:off x="3483475" y="3600275"/>
            <a:ext cx="600" cy="927900"/>
          </a:xfrm>
          <a:prstGeom prst="curvedConnector3">
            <a:avLst>
              <a:gd fmla="val 396875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7"/>
          <p:cNvCxnSpPr>
            <a:stCxn id="87" idx="3"/>
            <a:endCxn id="83" idx="3"/>
          </p:cNvCxnSpPr>
          <p:nvPr/>
        </p:nvCxnSpPr>
        <p:spPr>
          <a:xfrm>
            <a:off x="3225425" y="1259950"/>
            <a:ext cx="258000" cy="593400"/>
          </a:xfrm>
          <a:prstGeom prst="curvedConnector3">
            <a:avLst>
              <a:gd fmla="val 192316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2825" y="1383363"/>
            <a:ext cx="4820924" cy="109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2075" y="3318137"/>
            <a:ext cx="4942426" cy="10099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4484700" y="2472813"/>
            <a:ext cx="310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Figure 1:</a:t>
            </a:r>
            <a:r>
              <a:rPr lang="en"/>
              <a:t> before text processing</a:t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4572000" y="4328100"/>
            <a:ext cx="310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Figure 2:</a:t>
            </a:r>
            <a:r>
              <a:rPr lang="en"/>
              <a:t> after text processing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vocabulary</a:t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2325" y="1524850"/>
            <a:ext cx="2562050" cy="302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/>
        </p:nvSpPr>
        <p:spPr>
          <a:xfrm>
            <a:off x="5294400" y="4552725"/>
            <a:ext cx="353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Figure 2:</a:t>
            </a:r>
            <a:r>
              <a:rPr lang="en"/>
              <a:t> Top 10 most </a:t>
            </a:r>
            <a:r>
              <a:rPr lang="en"/>
              <a:t>occurred</a:t>
            </a:r>
            <a:r>
              <a:rPr lang="en"/>
              <a:t> words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227900" y="10770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</a:t>
            </a:r>
            <a:r>
              <a:rPr lang="en">
                <a:solidFill>
                  <a:schemeClr val="dk1"/>
                </a:solidFill>
              </a:rPr>
              <a:t>  </a:t>
            </a:r>
            <a:r>
              <a:rPr b="1" lang="en">
                <a:solidFill>
                  <a:schemeClr val="dk1"/>
                </a:solidFill>
              </a:rPr>
              <a:t>Leave only </a:t>
            </a:r>
            <a:r>
              <a:rPr b="1" lang="en">
                <a:solidFill>
                  <a:schemeClr val="dk1"/>
                </a:solidFill>
              </a:rPr>
              <a:t>Nouns and Adjectives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  Sort in global occurrence and leave Top 1000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  Next step: understand vocabulary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900" y="2571751"/>
            <a:ext cx="4764751" cy="18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311700" y="4552725"/>
            <a:ext cx="426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Figure 1:</a:t>
            </a:r>
            <a:r>
              <a:rPr lang="en"/>
              <a:t> Comment text, blue if </a:t>
            </a:r>
            <a:r>
              <a:rPr lang="en">
                <a:solidFill>
                  <a:srgbClr val="3C78D8"/>
                </a:solidFill>
              </a:rPr>
              <a:t>word in vocabulary</a:t>
            </a:r>
            <a:endParaRPr>
              <a:solidFill>
                <a:srgbClr val="3C78D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Understanding</a:t>
            </a:r>
            <a:r>
              <a:rPr lang="en"/>
              <a:t> vocabulary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  </a:t>
            </a:r>
            <a:r>
              <a:rPr lang="en">
                <a:solidFill>
                  <a:schemeClr val="dk1"/>
                </a:solidFill>
              </a:rPr>
              <a:t>When predicting star using word </a:t>
            </a:r>
            <a:r>
              <a:rPr lang="en">
                <a:solidFill>
                  <a:schemeClr val="dk1"/>
                </a:solidFill>
              </a:rPr>
              <a:t>occurrences, positive word should “increase” star and negative word should “decrease” star by degree of its </a:t>
            </a:r>
            <a:r>
              <a:rPr b="1" lang="en">
                <a:solidFill>
                  <a:schemeClr val="dk1"/>
                </a:solidFill>
              </a:rPr>
              <a:t>coefficient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-  </a:t>
            </a:r>
            <a:r>
              <a:rPr b="1" lang="en">
                <a:solidFill>
                  <a:schemeClr val="dk1"/>
                </a:solidFill>
              </a:rPr>
              <a:t>Assign “word score” using MLR coefficient!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674" y="2396250"/>
            <a:ext cx="3203700" cy="209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0875" y="2477925"/>
            <a:ext cx="5201424" cy="844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0875" y="3845248"/>
            <a:ext cx="5201426" cy="83092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/>
        </p:nvSpPr>
        <p:spPr>
          <a:xfrm>
            <a:off x="311700" y="4553550"/>
            <a:ext cx="310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Figure 1:</a:t>
            </a:r>
            <a:r>
              <a:rPr lang="en"/>
              <a:t> words and their scores</a:t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3880475" y="3383613"/>
            <a:ext cx="44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Figure 2:</a:t>
            </a:r>
            <a:r>
              <a:rPr lang="en"/>
              <a:t> Comment text, red if </a:t>
            </a:r>
            <a:r>
              <a:rPr lang="en">
                <a:solidFill>
                  <a:srgbClr val="FF0000"/>
                </a:solidFill>
              </a:rPr>
              <a:t>score &lt;= - 0.1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3880475" y="4553538"/>
            <a:ext cx="449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Figure 3:</a:t>
            </a:r>
            <a:r>
              <a:rPr lang="en"/>
              <a:t> Comment text, green if </a:t>
            </a:r>
            <a:r>
              <a:rPr lang="en">
                <a:solidFill>
                  <a:srgbClr val="6AA84F"/>
                </a:solidFill>
              </a:rPr>
              <a:t>score &gt;= 0.1</a:t>
            </a: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Above data engineering </a:t>
            </a:r>
            <a:r>
              <a:rPr lang="en">
                <a:solidFill>
                  <a:schemeClr val="dk1"/>
                </a:solidFill>
              </a:rPr>
              <a:t>boils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down to 1003 new features: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positiveScore</a:t>
            </a:r>
            <a:r>
              <a:rPr lang="en">
                <a:solidFill>
                  <a:schemeClr val="dk1"/>
                </a:solidFill>
              </a:rPr>
              <a:t>: sum of positive word scores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negativeScore</a:t>
            </a:r>
            <a:r>
              <a:rPr lang="en">
                <a:solidFill>
                  <a:schemeClr val="dk1"/>
                </a:solidFill>
              </a:rPr>
              <a:t>: sum of negative word scores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num_but</a:t>
            </a:r>
            <a:r>
              <a:rPr lang="en">
                <a:solidFill>
                  <a:schemeClr val="dk1"/>
                </a:solidFill>
              </a:rPr>
              <a:t>: number of “but”, “yet”, “however” in the comment text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>
                <a:solidFill>
                  <a:schemeClr val="dk1"/>
                </a:solidFill>
              </a:rPr>
              <a:t>word1, word2, …, word1000</a:t>
            </a:r>
            <a:r>
              <a:rPr lang="en">
                <a:solidFill>
                  <a:schemeClr val="dk1"/>
                </a:solidFill>
              </a:rPr>
              <a:t>: </a:t>
            </a:r>
            <a:r>
              <a:rPr lang="en">
                <a:solidFill>
                  <a:schemeClr val="dk1"/>
                </a:solidFill>
              </a:rPr>
              <a:t>occurrences</a:t>
            </a:r>
            <a:r>
              <a:rPr lang="en">
                <a:solidFill>
                  <a:schemeClr val="dk1"/>
                </a:solidFill>
              </a:rPr>
              <a:t> of words in vocabulary the in comment text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150" y="3302675"/>
            <a:ext cx="5508775" cy="141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1281800" y="4622800"/>
            <a:ext cx="641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Figure 1:</a:t>
            </a:r>
            <a:r>
              <a:rPr lang="en"/>
              <a:t> num_but differentiates “uncertain” comments from “certain” ones</a:t>
            </a: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Model Fitting and Feature Selection - Random Forest</a:t>
            </a:r>
            <a:endParaRPr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86250" y="1167925"/>
            <a:ext cx="888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With the positiveScore, negativeScore, nWord, nChar, and num_but, we fit a random forest model with ntree = 200. The resulting error matrix is presented below:</a:t>
            </a:r>
            <a:endParaRPr/>
          </a:p>
        </p:txBody>
      </p:sp>
      <p:pic>
        <p:nvPicPr>
          <p:cNvPr id="132" name="Google Shape;1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2213" y="2258100"/>
            <a:ext cx="6376175" cy="223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Fitting and Feature Selection - MLR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for MLR: adjective </a:t>
            </a:r>
            <a:r>
              <a:rPr lang="en"/>
              <a:t>occurrences, positiveScore, negativeScore, nWord, nChar, and num_but, without postalCodesitive...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" y="2469900"/>
            <a:ext cx="842010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Model Fitting and Feature Selection - Ensemble Learning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186900" y="1128125"/>
            <a:ext cx="8770200" cy="36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Instead of using MLR model for ensemble learning, we </a:t>
            </a:r>
            <a:r>
              <a:rPr lang="en"/>
              <a:t>experiment</a:t>
            </a:r>
            <a:r>
              <a:rPr lang="en"/>
              <a:t> on a tree-based ensemble learning model, conditional inference tree (ctree in R).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include predictions from MLR and random forest, plus </a:t>
            </a:r>
            <a:r>
              <a:rPr lang="en"/>
              <a:t>positiveScore, negativeScore, nWord, nChar, and num_but as the input for the decision tree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Note: for this part, we have not figured out a perfect explanation for this ensemble learning strategy; but one reason behind this is that it can better reflect the difference in information provided by MLR and RF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Diagnosis - Test/Prediction Comparison and RMSE</a:t>
            </a:r>
            <a:endParaRPr/>
          </a:p>
        </p:txBody>
      </p:sp>
      <p:pic>
        <p:nvPicPr>
          <p:cNvPr id="151" name="Google Shape;1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6875" y="1479125"/>
            <a:ext cx="4445425" cy="261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479163"/>
            <a:ext cx="4445425" cy="2610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 and Cons of the Model</a:t>
            </a:r>
            <a:endParaRPr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503250" y="1017725"/>
            <a:ext cx="8137500" cy="40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final accuracy is relatively good with Kaggle RMSE = 0.86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Include sentiment analysis with MLR and come up with new predictors that better reflect the reviews’ positivity or negativity.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Lacking feature selection </a:t>
            </a:r>
            <a:r>
              <a:rPr lang="en"/>
              <a:t>procedure</a:t>
            </a:r>
            <a:r>
              <a:rPr lang="en"/>
              <a:t> due to the time limit.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Did not give detailed error estimation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Did not given detailed interpretation of </a:t>
            </a:r>
            <a:r>
              <a:rPr lang="en"/>
              <a:t>ensemble learning with ctree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Future Improvements </a:t>
            </a:r>
            <a:endParaRPr/>
          </a:p>
        </p:txBody>
      </p:sp>
      <p:sp>
        <p:nvSpPr>
          <p:cNvPr id="164" name="Google Shape;164;p26"/>
          <p:cNvSpPr txBox="1"/>
          <p:nvPr>
            <p:ph idx="1" type="body"/>
          </p:nvPr>
        </p:nvSpPr>
        <p:spPr>
          <a:xfrm>
            <a:off x="311700" y="1415075"/>
            <a:ext cx="8520600" cy="3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Conduct feature selection with VIF regression to increase the interpretability of the MLR model to further refine the positiveScore and negativeScore; also, this will save more computational sources during model fitting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We </a:t>
            </a:r>
            <a:r>
              <a:rPr lang="en"/>
              <a:t>might consider multinomial logistics regression to improve the prediction accuracy.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Add error estimation with bootstrap to make the model prediction more comprehensive.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 newly-come-up features as predictors instead of fitting all work occurrence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